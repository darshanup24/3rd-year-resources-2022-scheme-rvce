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A92A-44DA-8260-2DFC-DE9DF39FC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A8788-E67C-A31C-8512-F3D9EB1CE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449D-7CA9-5605-3EB1-3C0600F3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CC96-8573-58D9-7D9A-1C35EFE3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1A9F-4259-AA4F-5205-9B40D4277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71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C4AA-D389-4487-E195-9BD61DB3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C7A84-1F16-C14C-198D-CDB0F00D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B135-1461-E209-54E0-AB344FBC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47F97-71CA-838F-3D5A-44D7BE0E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3F1FA-110D-18D3-9509-852B606E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81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3E9A-7E76-EAF0-4E7A-5AC078D9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CC6F-DAC4-E1F4-1C06-41A384B3F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4436-0E05-C7C9-97C2-FE8D7274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426D0-A4A0-9BBC-A89E-415DF287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A485-57C0-4BBD-8524-4AFD6A0F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76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F2B8-64A3-5783-87EC-30574791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19223-7116-2638-5201-73A7E3C98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18B00-B6F0-2D30-F368-6C29E898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2731D-6ACE-60AA-948D-1A7E8E0E9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AFBF1-FF41-81B6-5F81-9E92F618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D8DF4-6FFC-32BB-65FD-C2D58E4B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8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8F9C-272A-0938-D3E9-15C99ACE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3EBE4-7D1C-1DB5-69FE-EDDBBB160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FAE19-8F6D-FF87-177E-D4048D182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BB2FC-DCD2-D3F0-1B86-EE36430B3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8663B-6F12-5F02-0E4D-920F17014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7FE70-F2C7-3301-43C7-C21C3E0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98B4C-AB89-DDD0-662C-40B4214B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844D4-E9A5-9586-79E1-FC823E51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58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8F0C-E9C5-5DC7-6727-BFC28908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BC4A9-D08E-1FCF-CBFE-B81296A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74F7D-DEF6-27A7-8581-82EA38EF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89890-9111-9193-26E2-56EA2CAD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91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70B03-E9AF-8B1C-D47B-6B20104B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D0AF3-5F37-4790-2E5B-BE8DC562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A160C-FD6C-8665-7E5C-7E2DBE1B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7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29AD-29ED-52BA-94CF-8B24CC28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7D865-5EE3-2D50-1922-B88C10479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327D7-B95C-E404-7E01-B59A14718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37355-F57C-EE8B-B886-C1301DAD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1C4BC-88B2-8D19-0C8F-2F35328B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51369-B5D3-EDE7-F1B2-B112B265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4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158A-B7AA-0460-8CFB-FE42FF36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3EDBA-9C93-1816-D87D-F5459D3C7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DAF26-B928-389C-594E-0B9348464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0E5E3-745B-F123-AAA4-90EE33F1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3A8AC-9C42-3272-61DC-5B86B1BF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D6CD6-6C56-4398-83B0-0F03EBF2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0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0635-F80E-F8A3-09A2-6D84265C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2E5B9-5962-F91C-AC9A-421DC8B53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DE7FE-E66D-FF9E-9027-8FD2AE48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2C3B1-48C0-6EF0-B46D-ABF95800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C564-7868-12BE-F73C-42FB5C32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93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B6808-4309-6A36-3EA3-28D5A07CF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5137F-F0D7-95B5-10F5-841A8E770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14B87-2C02-8E19-8BEF-9C639B87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21FF-3F6E-59ED-1575-C8536313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90644-7A66-74AC-A4EB-156BCF0D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70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4A3247-427D-875D-9004-BFAA3EDF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D7A39-64E4-7B56-2437-3EDD30014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7E64E-8516-A99A-9C06-13B60269B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38C0F-D879-4ED0-BFA4-781A84DBAA6D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B1907-6C78-2E62-04A1-9F7D48427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29631-C975-3C24-7B0D-4D74DB161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7A229-543E-4F59-81DA-FF98344BC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85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C5A2C2-45D9-F077-E97D-E94D76DCC742}"/>
              </a:ext>
            </a:extLst>
          </p:cNvPr>
          <p:cNvSpPr txBox="1"/>
          <p:nvPr/>
        </p:nvSpPr>
        <p:spPr>
          <a:xfrm>
            <a:off x="374332" y="357277"/>
            <a:ext cx="115585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effectLst/>
              </a:rPr>
              <a:t>Advanced Rural Transportation Systems (ARTS) integrate technology, innovative service models, and community collaboration to address mobility challenges in rural areas. Below is a concise overview, building on the case studies previously discussed, with additional insights and examples where relevant.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941EE-B910-070A-3804-DB7A35B241D9}"/>
              </a:ext>
            </a:extLst>
          </p:cNvPr>
          <p:cNvSpPr txBox="1"/>
          <p:nvPr/>
        </p:nvSpPr>
        <p:spPr>
          <a:xfrm>
            <a:off x="248602" y="1674674"/>
            <a:ext cx="1179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ARTS encompass transportation solutions tailored for rural environments, leveraging technologies like GPS, GIS, mobile apps, and demand-responsive systems to improve accessibility, efficiency, and sustainability. They address challenges such as low population density, long travel distances, and limited public transport options.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1BB87-431A-4965-1D74-2AEBE4522691}"/>
              </a:ext>
            </a:extLst>
          </p:cNvPr>
          <p:cNvSpPr txBox="1"/>
          <p:nvPr/>
        </p:nvSpPr>
        <p:spPr>
          <a:xfrm>
            <a:off x="248601" y="2992071"/>
            <a:ext cx="116843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Features of ARTS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Demand-Responsive Transport (DRT)</a:t>
            </a:r>
            <a:r>
              <a:rPr lang="en-IN" dirty="0"/>
              <a:t>: Flexible routing based on real-time passenger needs, ideal for sparse demand (e.g., </a:t>
            </a:r>
            <a:r>
              <a:rPr lang="en-IN" dirty="0" err="1"/>
              <a:t>Yangsan</a:t>
            </a:r>
            <a:r>
              <a:rPr lang="en-IN" dirty="0"/>
              <a:t> City’s DRT pilot in South Korea).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Technology Integration</a:t>
            </a:r>
            <a:r>
              <a:rPr lang="en-IN" dirty="0"/>
              <a:t>: Tools like GIS for route optimization (e.g., India’s PMGSY) and ride-sharing platforms (e.g., Hitch Health’s Lyft integration in Sonoma County).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Multimodal Services</a:t>
            </a:r>
            <a:r>
              <a:rPr lang="en-IN" dirty="0"/>
              <a:t>: Combining fixed routes, dial-a-ride, and intercity connections (e.g., Ark-</a:t>
            </a:r>
            <a:r>
              <a:rPr lang="en-IN" dirty="0" err="1"/>
              <a:t>Tex</a:t>
            </a:r>
            <a:r>
              <a:rPr lang="en-IN" dirty="0"/>
              <a:t> TRAX’s diverse offerings in Texas).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Community Involvement</a:t>
            </a:r>
            <a:r>
              <a:rPr lang="en-IN" dirty="0"/>
              <a:t>: Local input ensures solutions fit specific needs (e.g., PMGSY’s community maintenance in India).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Sustainability</a:t>
            </a:r>
            <a:r>
              <a:rPr lang="en-IN" dirty="0"/>
              <a:t>: Diversified funding from governments, businesses, and grants supports long-term viability (e.g., TRAX’s partnerships with Wal-Mart and local colleges).</a:t>
            </a:r>
          </a:p>
        </p:txBody>
      </p:sp>
    </p:spTree>
    <p:extLst>
      <p:ext uri="{BB962C8B-B14F-4D97-AF65-F5344CB8AC3E}">
        <p14:creationId xmlns:p14="http://schemas.microsoft.com/office/powerpoint/2010/main" val="219755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71245C-7904-B112-0BD4-DEC1C16A0407}"/>
              </a:ext>
            </a:extLst>
          </p:cNvPr>
          <p:cNvSpPr txBox="1"/>
          <p:nvPr/>
        </p:nvSpPr>
        <p:spPr>
          <a:xfrm>
            <a:off x="171450" y="197346"/>
            <a:ext cx="1189863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1: West County Health Centers (WCHC) – Hitch Health Pilot, Sonoma County, California, USA</a:t>
            </a:r>
          </a:p>
          <a:p>
            <a:pPr algn="just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algn="just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County Health Centers (WCHC) in rural Sonoma County partnered with Hitch Health in 2018 to address transportation barriers for low-income and homeless patients, 80% of whom live at or below the federal poverty line. The pilot aimed to integrate ride-sharing services like Lyft into healthcare access.</a:t>
            </a:r>
          </a:p>
          <a:p>
            <a:pPr algn="just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Hitch Health’s platform integrated with WCHC’s patient scheduling system to arrange Lyft rides for medical appointments.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project team, including clinic administrators and the Patient and Family Council, was formed. Monthly meetings began in January 2018 to refine the system.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Patient feedback led to simplified text message language for low-literacy users. English messages were used, with Spanish versions planned.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Seed funding from the Center for Care Innovations’ iLab supported the pilot.</a:t>
            </a:r>
          </a:p>
          <a:p>
            <a:pPr algn="just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Geography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Russian River clinic, located 40 minutes from Santa Rosa, faced limited Lyft driver availability, leading to frequent ride cancellations. After a month, the pilot was halted at this location.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Needs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Long travel distances and lack of reliable personal or public transport posed barriers, especially for fragile patients.</a:t>
            </a:r>
          </a:p>
          <a:p>
            <a:pPr algn="just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pilot worked well for Healthcare for the Homeless patients, where outreach workers used Hitch Health’s “On Demand” feature for immediate pickups.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Ride-sharing models like Lyft are less viable in extremely rural areas with sparse driver networks. Alternative solutions, such as dedicated shuttles, may be needed.</a:t>
            </a:r>
          </a:p>
        </p:txBody>
      </p:sp>
    </p:spTree>
    <p:extLst>
      <p:ext uri="{BB962C8B-B14F-4D97-AF65-F5344CB8AC3E}">
        <p14:creationId xmlns:p14="http://schemas.microsoft.com/office/powerpoint/2010/main" val="191255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525FC2-45D7-E275-7D60-45C44B9DAE9B}"/>
              </a:ext>
            </a:extLst>
          </p:cNvPr>
          <p:cNvSpPr txBox="1"/>
          <p:nvPr/>
        </p:nvSpPr>
        <p:spPr>
          <a:xfrm>
            <a:off x="305752" y="179933"/>
            <a:ext cx="1165002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Case Study 2: </a:t>
            </a:r>
            <a:r>
              <a:rPr lang="en-US" b="1" dirty="0" err="1"/>
              <a:t>Yangsan</a:t>
            </a:r>
            <a:r>
              <a:rPr lang="en-US" b="1" dirty="0"/>
              <a:t> City – City-Type Bus and Demand-Responsive Transport (DRT), South Korea</a:t>
            </a:r>
          </a:p>
          <a:p>
            <a:pPr rtl="0"/>
            <a:r>
              <a:rPr lang="en-US" b="1" dirty="0"/>
              <a:t>Overview</a:t>
            </a:r>
          </a:p>
          <a:p>
            <a:pPr rtl="0"/>
            <a:r>
              <a:rPr lang="en-US" dirty="0" err="1"/>
              <a:t>Yangsan</a:t>
            </a:r>
            <a:r>
              <a:rPr lang="en-US" dirty="0"/>
              <a:t> City, South Korea, introduced city-type buses and explored Demand-Responsive Transport (DRT) to address declining public transport demand due to population aging and rural depopulation.</a:t>
            </a:r>
          </a:p>
          <a:p>
            <a:pPr rtl="0"/>
            <a:r>
              <a:rPr lang="en-US" b="1" dirty="0"/>
              <a:t>Implementation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City-Type Buses</a:t>
            </a:r>
            <a:r>
              <a:rPr lang="en-US" dirty="0"/>
              <a:t>: Six routes were launched, designed for low-density rural areas using smaller vehicles compared to traditional large buses.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DRT Exploration</a:t>
            </a:r>
            <a:r>
              <a:rPr lang="en-US" dirty="0"/>
              <a:t>: Six DRT operation methods were studied, adapting to irregular demand patterns. DRT allows flexible routing based on passenger requests, unlike fixed-route buses.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Technology</a:t>
            </a:r>
            <a:r>
              <a:rPr lang="en-US" dirty="0"/>
              <a:t>: Geographic Information Systems (GIS) were used to compare planned versus actual bus routes, optimizing operations.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Policy Context</a:t>
            </a:r>
            <a:r>
              <a:rPr lang="en-US" dirty="0"/>
              <a:t>: South Korea’s rural transport policy supports alternatives like voucher taxis and DRT to replace deficit-ridden large bus operations.</a:t>
            </a:r>
          </a:p>
          <a:p>
            <a:pPr rtl="0"/>
            <a:r>
              <a:rPr lang="en-US" b="1" dirty="0"/>
              <a:t>Challenges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Low Demand</a:t>
            </a:r>
            <a:r>
              <a:rPr lang="en-US" dirty="0"/>
              <a:t>: Rural areas had sparse and irregular transport needs, making fixed-route buses inefficient.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Operational Costs</a:t>
            </a:r>
            <a:r>
              <a:rPr lang="en-US" dirty="0"/>
              <a:t>: Traditional bus systems faced continuous deficits, necessitating cost-effective alternatives.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Adaptation</a:t>
            </a:r>
            <a:r>
              <a:rPr lang="en-US" dirty="0"/>
              <a:t>: Actual bus operations deviated from planned routes, requiring real-time adjustments.</a:t>
            </a:r>
          </a:p>
          <a:p>
            <a:pPr rtl="0"/>
            <a:r>
              <a:rPr lang="en-US" b="1" dirty="0"/>
              <a:t>Outcomes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Efficiency Gains</a:t>
            </a:r>
            <a:r>
              <a:rPr lang="en-US" dirty="0"/>
              <a:t>: DRT was identified as more efficient for low-demand, randomly distributed rural areas compared to fixed-route systems.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Policy Impact</a:t>
            </a:r>
            <a:r>
              <a:rPr lang="en-US" dirty="0"/>
              <a:t>: The study provided policymakers with data to refine rural transport services, proposing DRT as a future mobility solution.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Results are applicable to other rural regions globally facing similar demographic challenges.</a:t>
            </a:r>
          </a:p>
        </p:txBody>
      </p:sp>
    </p:spTree>
    <p:extLst>
      <p:ext uri="{BB962C8B-B14F-4D97-AF65-F5344CB8AC3E}">
        <p14:creationId xmlns:p14="http://schemas.microsoft.com/office/powerpoint/2010/main" val="12234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E10AF9-5317-3FDB-1C36-28075DADB7E8}"/>
              </a:ext>
            </a:extLst>
          </p:cNvPr>
          <p:cNvSpPr txBox="1"/>
          <p:nvPr/>
        </p:nvSpPr>
        <p:spPr>
          <a:xfrm>
            <a:off x="396240" y="403801"/>
            <a:ext cx="117957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Case Study 3: Ark-</a:t>
            </a:r>
            <a:r>
              <a:rPr lang="en-US" b="1" dirty="0" err="1"/>
              <a:t>Tex</a:t>
            </a:r>
            <a:r>
              <a:rPr lang="en-US" b="1" dirty="0"/>
              <a:t> TRAX – Multimodal Rural Transit, Northeastern Texas, USA</a:t>
            </a:r>
          </a:p>
          <a:p>
            <a:pPr rtl="0"/>
            <a:r>
              <a:rPr lang="en-US" b="1" dirty="0"/>
              <a:t>Overview</a:t>
            </a:r>
          </a:p>
          <a:p>
            <a:pPr rtl="0"/>
            <a:r>
              <a:rPr lang="en-US" dirty="0"/>
              <a:t>Ark-</a:t>
            </a:r>
            <a:r>
              <a:rPr lang="en-US" dirty="0" err="1"/>
              <a:t>Tex</a:t>
            </a:r>
            <a:r>
              <a:rPr lang="en-US" dirty="0"/>
              <a:t> TRAX, operated by the Ark-</a:t>
            </a:r>
            <a:r>
              <a:rPr lang="en-US" dirty="0" err="1"/>
              <a:t>Tex</a:t>
            </a:r>
            <a:r>
              <a:rPr lang="en-US" dirty="0"/>
              <a:t> Council of Governments, provides diverse transportation services across nine rural counties in Texas, bordering Arkansas, Louisiana, and Oklahoma.</a:t>
            </a:r>
          </a:p>
          <a:p>
            <a:pPr rtl="0"/>
            <a:r>
              <a:rPr lang="en-US" b="1" dirty="0"/>
              <a:t>Implementation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Service Modes</a:t>
            </a:r>
            <a:r>
              <a:rPr lang="en-US" dirty="0"/>
              <a:t>: TRAX offers demand-response (dial-a-ride), fixed-route services in small cities, job access routes, and partnerships with Greyhound for intercity travel.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Partnerships</a:t>
            </a:r>
            <a:r>
              <a:rPr lang="en-US" dirty="0"/>
              <a:t>: Collaborations with Wal-Mart, a poultry processing plant, a community college, and the local Workforce Board expanded service reach.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Infrastructure</a:t>
            </a:r>
            <a:r>
              <a:rPr lang="en-US" dirty="0"/>
              <a:t>: TRAX maintains its own vehicle maintenance facility, ensuring reliability.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Funding</a:t>
            </a:r>
            <a:r>
              <a:rPr lang="en-US" dirty="0"/>
              <a:t>: Diversified funding from local governments, businesses, and human service agencies supports operations.</a:t>
            </a:r>
          </a:p>
          <a:p>
            <a:pPr rtl="0"/>
            <a:r>
              <a:rPr lang="en-US" b="1" dirty="0"/>
              <a:t>Challenges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Geographic Spread</a:t>
            </a:r>
            <a:r>
              <a:rPr lang="en-US" dirty="0"/>
              <a:t>: The large, low-density service area required tailored service modes to meet diverse needs.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Funding Stability</a:t>
            </a:r>
            <a:r>
              <a:rPr lang="en-US" dirty="0"/>
              <a:t>: Initial reliance on human service agencies posed risks as funding declined over time.</a:t>
            </a:r>
          </a:p>
          <a:p>
            <a:pPr rtl="0"/>
            <a:r>
              <a:rPr lang="en-US" b="1" dirty="0"/>
              <a:t>Outcomes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Versatility</a:t>
            </a:r>
            <a:r>
              <a:rPr lang="en-US" dirty="0"/>
              <a:t>: TRAX’s mix of fixed-route, demand-response, and job access services met varied rural needs, from daily commutes to medical trips.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Economic Impact</a:t>
            </a:r>
            <a:r>
              <a:rPr lang="en-US" dirty="0"/>
              <a:t>: Partnerships with businesses and colleges enhanced job access and local economic activity.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Sustainability</a:t>
            </a:r>
            <a:r>
              <a:rPr lang="en-US" dirty="0"/>
              <a:t>: Diversified funding and a dedicated maintenance facility ensured long-term viability.</a:t>
            </a:r>
          </a:p>
        </p:txBody>
      </p:sp>
    </p:spTree>
    <p:extLst>
      <p:ext uri="{BB962C8B-B14F-4D97-AF65-F5344CB8AC3E}">
        <p14:creationId xmlns:p14="http://schemas.microsoft.com/office/powerpoint/2010/main" val="309967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E2E657-45BB-B432-5FE6-640826CBD663}"/>
              </a:ext>
            </a:extLst>
          </p:cNvPr>
          <p:cNvSpPr txBox="1"/>
          <p:nvPr/>
        </p:nvSpPr>
        <p:spPr>
          <a:xfrm>
            <a:off x="180975" y="300931"/>
            <a:ext cx="118300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Case Study 4: Pradhan Mantri Gram </a:t>
            </a:r>
            <a:r>
              <a:rPr lang="en-US" b="1" dirty="0" err="1"/>
              <a:t>Sadak</a:t>
            </a:r>
            <a:r>
              <a:rPr lang="en-US" b="1" dirty="0"/>
              <a:t> Yojana (PMGSY) – Rural Road Connectivity, India</a:t>
            </a:r>
          </a:p>
          <a:p>
            <a:pPr rtl="0"/>
            <a:r>
              <a:rPr lang="en-US" b="1" dirty="0"/>
              <a:t>Overview</a:t>
            </a:r>
          </a:p>
          <a:p>
            <a:pPr rtl="0"/>
            <a:r>
              <a:rPr lang="en-US" dirty="0"/>
              <a:t>Launched by the Government of India, PMGSY aims to connect 167,000 unconnected rural villages with all-weather roads to improve socio-economic outcomes.</a:t>
            </a:r>
          </a:p>
          <a:p>
            <a:pPr rtl="0"/>
            <a:r>
              <a:rPr lang="en-US" b="1" dirty="0"/>
              <a:t>Implementation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Infrastructure</a:t>
            </a:r>
            <a:r>
              <a:rPr lang="en-US" dirty="0"/>
              <a:t>: The program prioritizes road construction and maintenance, focusing on accessibility to public facilities like schools and healthcare centers.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Technology</a:t>
            </a:r>
            <a:r>
              <a:rPr lang="en-US" dirty="0"/>
              <a:t>: Spatial analysis using ArcGIS and QGIS mapped facility coverage and prioritized road upgrades based on village facility indices.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Methodology</a:t>
            </a:r>
            <a:r>
              <a:rPr lang="en-US" dirty="0"/>
              <a:t>: A gravity-based formula calculated link weights to create a priority list for road improvements.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Community Involvement</a:t>
            </a:r>
            <a:r>
              <a:rPr lang="en-US" dirty="0"/>
              <a:t>: Local communities provided insights for maintenance, enhancing sustainability.</a:t>
            </a:r>
          </a:p>
          <a:p>
            <a:pPr rtl="0"/>
            <a:r>
              <a:rPr lang="en-US" b="1" dirty="0"/>
              <a:t>Challenges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Scale</a:t>
            </a:r>
            <a:r>
              <a:rPr lang="en-US" dirty="0"/>
              <a:t>: Connecting thousands of remote villages required extensive planning and resources.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Maintenance</a:t>
            </a:r>
            <a:r>
              <a:rPr lang="en-US" dirty="0"/>
              <a:t>: Rural communities often lacked resources for road upkeep, necessitating government support.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Socio-Economic Barriers</a:t>
            </a:r>
            <a:r>
              <a:rPr lang="en-US" dirty="0"/>
              <a:t>: Many rural residents relied on subsistence farming, limiting market-driven transport demand.</a:t>
            </a:r>
          </a:p>
          <a:p>
            <a:pPr rtl="0"/>
            <a:r>
              <a:rPr lang="en-US" b="1" dirty="0"/>
              <a:t>Outcomes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Connectivity</a:t>
            </a:r>
            <a:r>
              <a:rPr lang="en-US" dirty="0"/>
              <a:t>: Improved roads enhanced access to education, healthcare, and markets, boosting income and living standards.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Data-Driven Planning</a:t>
            </a:r>
            <a:r>
              <a:rPr lang="en-US" dirty="0"/>
              <a:t>: GIS-based databases supported scalable infrastructure expansion.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Community Benefits</a:t>
            </a:r>
            <a:r>
              <a:rPr lang="en-US" dirty="0"/>
              <a:t>: Community-based maintenance created jobs, particularly for women and disadvantaged groups.</a:t>
            </a:r>
          </a:p>
        </p:txBody>
      </p:sp>
    </p:spTree>
    <p:extLst>
      <p:ext uri="{BB962C8B-B14F-4D97-AF65-F5344CB8AC3E}">
        <p14:creationId xmlns:p14="http://schemas.microsoft.com/office/powerpoint/2010/main" val="48808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1779D6-1359-CCA2-C356-3C8F33C0175F}"/>
              </a:ext>
            </a:extLst>
          </p:cNvPr>
          <p:cNvSpPr txBox="1"/>
          <p:nvPr/>
        </p:nvSpPr>
        <p:spPr>
          <a:xfrm>
            <a:off x="0" y="147519"/>
            <a:ext cx="58293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Geography: Sparse populations and long distances complicate service delivery (e.g., Sonoma’s driver shortages).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Funding: Rural systems often face budget constraints, requiring creative financing (e.g., TRAX’s diversified funding).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Technology Gaps: Limited internet or smartphone access in remote areas hinders app-based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Scalability: Urban models like ride-sharing often fail in rural contexts without adaptation.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B9250-23A5-3DC6-7C70-B043FC70C829}"/>
              </a:ext>
            </a:extLst>
          </p:cNvPr>
          <p:cNvSpPr txBox="1"/>
          <p:nvPr/>
        </p:nvSpPr>
        <p:spPr>
          <a:xfrm>
            <a:off x="6251257" y="12680"/>
            <a:ext cx="58293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Emerging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Autonomous Vehicles: Pilot projects, like those in rural Scotland, test driverless shuttles for last-mile connectivity.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Electric Mobility: Solar-powered or electric vans reduce costs and environmental impact in rural settings (e.g., pilot projects in Sub-Saharan Africa).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Microtransit</a:t>
            </a:r>
            <a:r>
              <a:rPr lang="en-US" dirty="0"/>
              <a:t> Apps: Platforms like Via or </a:t>
            </a:r>
            <a:r>
              <a:rPr lang="en-US" dirty="0" err="1"/>
              <a:t>Padam</a:t>
            </a:r>
            <a:r>
              <a:rPr lang="en-US" dirty="0"/>
              <a:t> Mobility adapt DRT for rural use, optimizing routes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Public-Private Partnerships: Collaborations with companies like Uber or local businesses expand service reach (e.g., TRAX’s Wal-Mart partnership).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A6A00-7562-BD0C-3FAA-B2AE54FB7F46}"/>
              </a:ext>
            </a:extLst>
          </p:cNvPr>
          <p:cNvSpPr txBox="1"/>
          <p:nvPr/>
        </p:nvSpPr>
        <p:spPr>
          <a:xfrm>
            <a:off x="101441" y="3836730"/>
            <a:ext cx="119891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Prioritize DRT: Flexible systems better serve low-density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Data Analytics: GIS and real-time data optimize routes and resource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Foster Partnerships: Engage local businesses and communities for funding and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Pilot Innovations: Test technologies like autonomous vehicles in controlled rural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Accessibility: Design systems for low-income, elderly, or disabled users with simple interfaces.</a:t>
            </a:r>
          </a:p>
        </p:txBody>
      </p:sp>
    </p:spTree>
    <p:extLst>
      <p:ext uri="{BB962C8B-B14F-4D97-AF65-F5344CB8AC3E}">
        <p14:creationId xmlns:p14="http://schemas.microsoft.com/office/powerpoint/2010/main" val="122921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1427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UG CIVIL</dc:creator>
  <cp:lastModifiedBy>UG CIVIL</cp:lastModifiedBy>
  <cp:revision>2</cp:revision>
  <dcterms:created xsi:type="dcterms:W3CDTF">2025-06-13T07:24:51Z</dcterms:created>
  <dcterms:modified xsi:type="dcterms:W3CDTF">2025-06-13T07:32:38Z</dcterms:modified>
</cp:coreProperties>
</file>