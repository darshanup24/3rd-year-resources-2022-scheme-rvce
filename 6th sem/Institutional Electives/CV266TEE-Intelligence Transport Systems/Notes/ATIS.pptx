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1EAE1-C541-152A-7185-72F5654253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E85A5B4-361A-9810-0627-01AE80E8A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7E51BE-0748-8CB0-996E-695F82EFDC41}"/>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CFF2A7DB-76B1-5BAF-AFE4-01D282F3B3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FC49DB-85A7-49DA-177D-6F963016159E}"/>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228559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FE29-2D7C-F528-38CD-3EFF9D4D12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0B7499-8EEF-E0CD-F500-A023CE3806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8DD084-818A-79A6-B135-2F97BD17A46F}"/>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3FD7E623-861D-C242-3E14-A46DED35D1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B8B0CC-4FCA-6AFC-E178-0A3BBE24EE63}"/>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101219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57A2-01F8-153B-D3BF-7010577E10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78FD3F9-7A9E-86D5-1F12-9FD1004B11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2977CF-3AFD-0380-C9AE-2CF38B0A4BDC}"/>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B51B53B5-A539-8B58-2CBD-9389506679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65891D-C6EE-AB83-F220-C101D4D7CA83}"/>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3607898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B6DF-AFE6-8525-E6E5-45A7C5FEB5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4FBE782-6AE9-3165-8535-1EFFB5BE75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B37FE2-FBF2-B4FA-7E76-3FDA3158A5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7C42BB-84CD-825F-1255-F2747362438E}"/>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6" name="Footer Placeholder 5">
            <a:extLst>
              <a:ext uri="{FF2B5EF4-FFF2-40B4-BE49-F238E27FC236}">
                <a16:creationId xmlns:a16="http://schemas.microsoft.com/office/drawing/2014/main" id="{CAD51438-F7CD-E448-5422-4FEAA9C0613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651436-734A-BE96-C367-FAA37B6CBF7A}"/>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142473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4C25A-8FA4-BF42-AD7D-D2AD64410A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B84820-3345-5EFF-D503-598E527815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AD2523-A2C9-1C1C-1A61-E30A98FAB8E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3AC1CD-45E2-5CB4-099F-393A5CBADD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F9192C-2B80-C1D4-234D-1728E5B419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575182-B64C-EEA4-11D9-EE3731E903FB}"/>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8" name="Footer Placeholder 7">
            <a:extLst>
              <a:ext uri="{FF2B5EF4-FFF2-40B4-BE49-F238E27FC236}">
                <a16:creationId xmlns:a16="http://schemas.microsoft.com/office/drawing/2014/main" id="{7302564F-343A-4B66-0E23-4516B821845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54AD7B-3DA2-B52C-5B35-472E4257EDBD}"/>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3396257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9DBCE-77C5-5A10-78F0-80BD26AFEF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163CAE-70D5-F55A-00EC-5C72D4877172}"/>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4" name="Footer Placeholder 3">
            <a:extLst>
              <a:ext uri="{FF2B5EF4-FFF2-40B4-BE49-F238E27FC236}">
                <a16:creationId xmlns:a16="http://schemas.microsoft.com/office/drawing/2014/main" id="{AB7F9C26-10DF-6383-3826-4D3F9D26EE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D99CD1-82E8-D74C-6FEF-E80419F8FDDA}"/>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1640516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100259-9E88-2C1C-0E48-554D98ADBE03}"/>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3" name="Footer Placeholder 2">
            <a:extLst>
              <a:ext uri="{FF2B5EF4-FFF2-40B4-BE49-F238E27FC236}">
                <a16:creationId xmlns:a16="http://schemas.microsoft.com/office/drawing/2014/main" id="{4EB29D24-EDF7-3577-B301-8CCC9B544AA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3E07C7E-8F8E-41BC-FF60-663C6FBF6B75}"/>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359756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6F10-9DC3-4430-8ED7-67A30CAF24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2124274-5C5E-E026-A2AD-1EC67340E6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F6B136F-5AA0-3B45-F662-E10AFBD8F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580016-1178-0132-C048-3D893B7759A7}"/>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6" name="Footer Placeholder 5">
            <a:extLst>
              <a:ext uri="{FF2B5EF4-FFF2-40B4-BE49-F238E27FC236}">
                <a16:creationId xmlns:a16="http://schemas.microsoft.com/office/drawing/2014/main" id="{B7840A58-5D9F-5681-9015-03321F2B02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276074-86B7-2C20-B899-D5DF87E15CA6}"/>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4039645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77F15-AB90-F2D3-FE68-65801F17B2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0AD9E24-9DE2-6F6E-567A-BB29C3C20F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D55E7B-D886-362A-0A7D-50847249B0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16492F-2C6F-1557-4C39-63C12E04925F}"/>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6" name="Footer Placeholder 5">
            <a:extLst>
              <a:ext uri="{FF2B5EF4-FFF2-40B4-BE49-F238E27FC236}">
                <a16:creationId xmlns:a16="http://schemas.microsoft.com/office/drawing/2014/main" id="{8124DAED-114A-4244-8C5C-010263D778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C16A44-A490-9F0A-9637-20A4ED13FF50}"/>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1764393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A7FFD-1101-D1CD-41F7-66B4BCBDC8F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BBB751-40C3-7D4F-F82F-3AD186F2BE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8EED28-C438-714E-A134-B45EF97293B9}"/>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A6766E90-C099-4FA2-6D34-C55CF7F579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FD0512E-11B4-75EE-15C2-23575A974FD1}"/>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3861288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5F55C8-49C3-6D00-EBCA-223DB928B8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C49EFC1-FD5A-D383-C218-138DD60822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145DEC-FB0A-3D67-F83E-B0278AEB7AFF}"/>
              </a:ext>
            </a:extLst>
          </p:cNvPr>
          <p:cNvSpPr>
            <a:spLocks noGrp="1"/>
          </p:cNvSpPr>
          <p:nvPr>
            <p:ph type="dt" sz="half" idx="10"/>
          </p:nvPr>
        </p:nvSpPr>
        <p:spPr/>
        <p:txBody>
          <a:body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924B721D-7CCC-829B-162D-63EF71588F4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CB4837-DDF6-A37A-6306-26F5886BD34D}"/>
              </a:ext>
            </a:extLst>
          </p:cNvPr>
          <p:cNvSpPr>
            <a:spLocks noGrp="1"/>
          </p:cNvSpPr>
          <p:nvPr>
            <p:ph type="sldNum" sz="quarter" idx="12"/>
          </p:nvPr>
        </p:nvSpPr>
        <p:spPr/>
        <p:txBody>
          <a:bodyPr/>
          <a:lstStyle/>
          <a:p>
            <a:fld id="{F08D8C3C-4000-41C4-ABC1-10B6C303D548}" type="slidenum">
              <a:rPr lang="en-IN" smtClean="0"/>
              <a:t>‹#›</a:t>
            </a:fld>
            <a:endParaRPr lang="en-IN"/>
          </a:p>
        </p:txBody>
      </p:sp>
    </p:spTree>
    <p:extLst>
      <p:ext uri="{BB962C8B-B14F-4D97-AF65-F5344CB8AC3E}">
        <p14:creationId xmlns:p14="http://schemas.microsoft.com/office/powerpoint/2010/main" val="242936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08166B-D15E-A41D-B12E-3052E59902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20710C-F2ED-34CF-B902-99EC65AAF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0B0699-53B0-FEF1-2DC1-AFE455B6D5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EACB3-2242-4EC7-9563-8B6778DBA3E1}" type="datetimeFigureOut">
              <a:rPr lang="en-IN" smtClean="0"/>
              <a:t>13-06-2025</a:t>
            </a:fld>
            <a:endParaRPr lang="en-IN"/>
          </a:p>
        </p:txBody>
      </p:sp>
      <p:sp>
        <p:nvSpPr>
          <p:cNvPr id="5" name="Footer Placeholder 4">
            <a:extLst>
              <a:ext uri="{FF2B5EF4-FFF2-40B4-BE49-F238E27FC236}">
                <a16:creationId xmlns:a16="http://schemas.microsoft.com/office/drawing/2014/main" id="{A724DEE5-0BD7-C288-D260-026F07CD84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DED0EE8-60AE-1A96-86BB-CB8A640257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8D8C3C-4000-41C4-ABC1-10B6C303D548}" type="slidenum">
              <a:rPr lang="en-IN" smtClean="0"/>
              <a:t>‹#›</a:t>
            </a:fld>
            <a:endParaRPr lang="en-IN"/>
          </a:p>
        </p:txBody>
      </p:sp>
    </p:spTree>
    <p:extLst>
      <p:ext uri="{BB962C8B-B14F-4D97-AF65-F5344CB8AC3E}">
        <p14:creationId xmlns:p14="http://schemas.microsoft.com/office/powerpoint/2010/main" val="18832767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50EA57-8C8C-BEDC-F7EC-33312D5B14CD}"/>
              </a:ext>
            </a:extLst>
          </p:cNvPr>
          <p:cNvSpPr txBox="1"/>
          <p:nvPr/>
        </p:nvSpPr>
        <p:spPr>
          <a:xfrm>
            <a:off x="317182" y="101799"/>
            <a:ext cx="11787187" cy="1477328"/>
          </a:xfrm>
          <a:prstGeom prst="rect">
            <a:avLst/>
          </a:prstGeom>
          <a:noFill/>
        </p:spPr>
        <p:txBody>
          <a:bodyPr wrap="square">
            <a:spAutoFit/>
          </a:bodyPr>
          <a:lstStyle/>
          <a:p>
            <a:r>
              <a:rPr lang="en-US" dirty="0">
                <a:effectLst/>
                <a:latin typeface="Times New Roman" panose="02020603050405020304" pitchFamily="18" charset="0"/>
                <a:cs typeface="Times New Roman" panose="02020603050405020304" pitchFamily="18" charset="0"/>
              </a:rPr>
              <a:t>Advanced Traveler Information Systems (ATIS) are technology-driven platforms that provide real-time, personalized travel information to users, enhancing decision-making for route planning, mode choice, and trip efficiency. In the context of rural transportation, ATIS can address unique challenges like sparse infrastructure and limited service availability. Below is a concise overview of ATIS, tailored to complement the prior discussion on Advanced Rural Transportation Systems (ARTS), with examples and applications.</a:t>
            </a:r>
          </a:p>
        </p:txBody>
      </p:sp>
      <p:sp>
        <p:nvSpPr>
          <p:cNvPr id="7" name="TextBox 6">
            <a:extLst>
              <a:ext uri="{FF2B5EF4-FFF2-40B4-BE49-F238E27FC236}">
                <a16:creationId xmlns:a16="http://schemas.microsoft.com/office/drawing/2014/main" id="{CC72C8F4-6B9C-AEC8-5B58-5BFCB03E934F}"/>
              </a:ext>
            </a:extLst>
          </p:cNvPr>
          <p:cNvSpPr txBox="1"/>
          <p:nvPr/>
        </p:nvSpPr>
        <p:spPr>
          <a:xfrm>
            <a:off x="0" y="1585554"/>
            <a:ext cx="11874817" cy="923330"/>
          </a:xfrm>
          <a:prstGeom prst="rect">
            <a:avLst/>
          </a:prstGeom>
          <a:noFill/>
        </p:spPr>
        <p:txBody>
          <a:bodyPr wrap="square">
            <a:spAutoFit/>
          </a:bodyPr>
          <a:lstStyle/>
          <a:p>
            <a:r>
              <a:rPr lang="en-US" dirty="0">
                <a:effectLst/>
                <a:latin typeface="Times New Roman" panose="02020603050405020304" pitchFamily="18" charset="0"/>
                <a:cs typeface="Times New Roman" panose="02020603050405020304" pitchFamily="18" charset="0"/>
              </a:rPr>
              <a:t>ATIS leverages data from sensors, GPS, mobile apps, and communication networks to deliver timely information about traffic conditions, transit schedules, weather, road closures, and alternative routes. It aims to improve safety, reduce travel time, and enhance user experience, particularly in areas with limited transport options.</a:t>
            </a:r>
          </a:p>
        </p:txBody>
      </p:sp>
      <p:sp>
        <p:nvSpPr>
          <p:cNvPr id="9" name="TextBox 8">
            <a:extLst>
              <a:ext uri="{FF2B5EF4-FFF2-40B4-BE49-F238E27FC236}">
                <a16:creationId xmlns:a16="http://schemas.microsoft.com/office/drawing/2014/main" id="{D13ED46D-F2DE-FEAB-83DC-4D0AC8702141}"/>
              </a:ext>
            </a:extLst>
          </p:cNvPr>
          <p:cNvSpPr txBox="1"/>
          <p:nvPr/>
        </p:nvSpPr>
        <p:spPr>
          <a:xfrm>
            <a:off x="72865" y="2625863"/>
            <a:ext cx="6137910" cy="3970318"/>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Key Features of ATIS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Real-Time Data</a:t>
            </a:r>
            <a:r>
              <a:rPr lang="en-US" dirty="0">
                <a:latin typeface="Times New Roman" panose="02020603050405020304" pitchFamily="18" charset="0"/>
                <a:cs typeface="Times New Roman" panose="02020603050405020304" pitchFamily="18" charset="0"/>
              </a:rPr>
              <a:t>: Provides updates on traffic, transit delays, or road conditions (e.g., congestion or accidents).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Multimodal Integration</a:t>
            </a:r>
            <a:r>
              <a:rPr lang="en-US" dirty="0">
                <a:latin typeface="Times New Roman" panose="02020603050405020304" pitchFamily="18" charset="0"/>
                <a:cs typeface="Times New Roman" panose="02020603050405020304" pitchFamily="18" charset="0"/>
              </a:rPr>
              <a:t>: Combines information across transport modes—buses, ride-sharing, or walking (e.g., apps like Google Maps or Transit).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Personalization</a:t>
            </a:r>
            <a:r>
              <a:rPr lang="en-US" dirty="0">
                <a:latin typeface="Times New Roman" panose="02020603050405020304" pitchFamily="18" charset="0"/>
                <a:cs typeface="Times New Roman" panose="02020603050405020304" pitchFamily="18" charset="0"/>
              </a:rPr>
              <a:t>: Tailors recommendations based on user preferences, location, or needs (e.g., accessibility options for disabled travelers).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Communication Channels</a:t>
            </a:r>
            <a:r>
              <a:rPr lang="en-US" dirty="0">
                <a:latin typeface="Times New Roman" panose="02020603050405020304" pitchFamily="18" charset="0"/>
                <a:cs typeface="Times New Roman" panose="02020603050405020304" pitchFamily="18" charset="0"/>
              </a:rPr>
              <a:t>: Delivers info via mobile apps, websites, variable message signs (VMS), or SMS for low-tech environments.</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Predictive Analytics</a:t>
            </a:r>
            <a:r>
              <a:rPr lang="en-US" dirty="0">
                <a:latin typeface="Times New Roman" panose="02020603050405020304" pitchFamily="18" charset="0"/>
                <a:cs typeface="Times New Roman" panose="02020603050405020304" pitchFamily="18" charset="0"/>
              </a:rPr>
              <a:t>: Uses historical and real-time data to forecast travel times or disruptions.</a:t>
            </a:r>
          </a:p>
        </p:txBody>
      </p:sp>
      <p:sp>
        <p:nvSpPr>
          <p:cNvPr id="11" name="TextBox 10">
            <a:extLst>
              <a:ext uri="{FF2B5EF4-FFF2-40B4-BE49-F238E27FC236}">
                <a16:creationId xmlns:a16="http://schemas.microsoft.com/office/drawing/2014/main" id="{F1503496-00A1-A6CD-646B-3C400F048C88}"/>
              </a:ext>
            </a:extLst>
          </p:cNvPr>
          <p:cNvSpPr txBox="1"/>
          <p:nvPr/>
        </p:nvSpPr>
        <p:spPr>
          <a:xfrm>
            <a:off x="6096000" y="2487363"/>
            <a:ext cx="6137910" cy="4247317"/>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ATIS in Rural Contexts</a:t>
            </a:r>
          </a:p>
          <a:p>
            <a:r>
              <a:rPr lang="en-US" dirty="0">
                <a:effectLst/>
                <a:latin typeface="Times New Roman" panose="02020603050405020304" pitchFamily="18" charset="0"/>
                <a:cs typeface="Times New Roman" panose="02020603050405020304" pitchFamily="18" charset="0"/>
              </a:rPr>
              <a:t>Rural areas face distinct challenges—low connectivity, sparse transit, and long distances—making ATIS critical for improving mobility. Rural ATIS often focuses on:</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Demand-Responsive Transport (DRT) Integration</a:t>
            </a:r>
            <a:r>
              <a:rPr lang="en-US" dirty="0">
                <a:latin typeface="Times New Roman" panose="02020603050405020304" pitchFamily="18" charset="0"/>
                <a:cs typeface="Times New Roman" panose="02020603050405020304" pitchFamily="18" charset="0"/>
              </a:rPr>
              <a:t>: Provides schedules or booking for flexible services (e.g., </a:t>
            </a:r>
            <a:r>
              <a:rPr lang="en-US" dirty="0" err="1">
                <a:latin typeface="Times New Roman" panose="02020603050405020304" pitchFamily="18" charset="0"/>
                <a:cs typeface="Times New Roman" panose="02020603050405020304" pitchFamily="18" charset="0"/>
              </a:rPr>
              <a:t>Yangsan</a:t>
            </a:r>
            <a:r>
              <a:rPr lang="en-US" dirty="0">
                <a:latin typeface="Times New Roman" panose="02020603050405020304" pitchFamily="18" charset="0"/>
                <a:cs typeface="Times New Roman" panose="02020603050405020304" pitchFamily="18" charset="0"/>
              </a:rPr>
              <a:t> City’s DRT in South Korea).</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Road Condition Alerts</a:t>
            </a:r>
            <a:r>
              <a:rPr lang="en-US" dirty="0">
                <a:latin typeface="Times New Roman" panose="02020603050405020304" pitchFamily="18" charset="0"/>
                <a:cs typeface="Times New Roman" panose="02020603050405020304" pitchFamily="18" charset="0"/>
              </a:rPr>
              <a:t>: Warns about rural hazards like flooding or unpaved roads (e.g., India’s PMGSY road network monitoring).</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Healthcare/Essential Access</a:t>
            </a:r>
            <a:r>
              <a:rPr lang="en-US" dirty="0">
                <a:latin typeface="Times New Roman" panose="02020603050405020304" pitchFamily="18" charset="0"/>
                <a:cs typeface="Times New Roman" panose="02020603050405020304" pitchFamily="18" charset="0"/>
              </a:rPr>
              <a:t>: Guides users to critical services like clinics or markets (e.g., Sonoma County’s Hitch Health pilot).</a:t>
            </a:r>
          </a:p>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Low-Tech Solutions</a:t>
            </a:r>
            <a:r>
              <a:rPr lang="en-US" dirty="0">
                <a:latin typeface="Times New Roman" panose="02020603050405020304" pitchFamily="18" charset="0"/>
                <a:cs typeface="Times New Roman" panose="02020603050405020304" pitchFamily="18" charset="0"/>
              </a:rPr>
              <a:t>: Uses SMS or radio for areas with limited smartphone access.</a:t>
            </a:r>
          </a:p>
        </p:txBody>
      </p:sp>
    </p:spTree>
    <p:extLst>
      <p:ext uri="{BB962C8B-B14F-4D97-AF65-F5344CB8AC3E}">
        <p14:creationId xmlns:p14="http://schemas.microsoft.com/office/powerpoint/2010/main" val="4124169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C4839DF-9414-133C-8CD9-89DA54C21555}"/>
              </a:ext>
            </a:extLst>
          </p:cNvPr>
          <p:cNvSpPr txBox="1"/>
          <p:nvPr/>
        </p:nvSpPr>
        <p:spPr>
          <a:xfrm>
            <a:off x="328613" y="224225"/>
            <a:ext cx="6097904" cy="5632311"/>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Examples of ATIS Applications</a:t>
            </a:r>
          </a:p>
          <a:p>
            <a:pPr>
              <a:buFont typeface="+mj-lt"/>
              <a:buAutoNum type="arabicPeriod"/>
            </a:pPr>
            <a:r>
              <a:rPr lang="en-US" b="1" dirty="0">
                <a:latin typeface="Times New Roman" panose="02020603050405020304" pitchFamily="18" charset="0"/>
                <a:cs typeface="Times New Roman" panose="02020603050405020304" pitchFamily="18" charset="0"/>
              </a:rPr>
              <a:t>Rural Minnesota, USA – MnDOT’s 511 System</a:t>
            </a:r>
            <a:r>
              <a:rPr lang="en-US"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Overview</a:t>
            </a:r>
            <a:r>
              <a:rPr lang="en-US" dirty="0">
                <a:latin typeface="Times New Roman" panose="02020603050405020304" pitchFamily="18" charset="0"/>
                <a:cs typeface="Times New Roman" panose="02020603050405020304" pitchFamily="18" charset="0"/>
              </a:rPr>
              <a:t>: The Minnesota Department of Transportation’s 511 system provides real-time road and transit info via phone, website, and app.</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Features</a:t>
            </a:r>
            <a:r>
              <a:rPr lang="en-US" dirty="0">
                <a:latin typeface="Times New Roman" panose="02020603050405020304" pitchFamily="18" charset="0"/>
                <a:cs typeface="Times New Roman" panose="02020603050405020304" pitchFamily="18" charset="0"/>
              </a:rPr>
              <a:t>: Includes weather alerts, construction updates, and transit schedules for rural areas with limited bus services.</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Outcome</a:t>
            </a:r>
            <a:r>
              <a:rPr lang="en-US" dirty="0">
                <a:latin typeface="Times New Roman" panose="02020603050405020304" pitchFamily="18" charset="0"/>
                <a:cs typeface="Times New Roman" panose="02020603050405020304" pitchFamily="18" charset="0"/>
              </a:rPr>
              <a:t>: Reduced travel delays and improved safety for remote communities.</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U.S. Department of Transportation, 2020.</a:t>
            </a:r>
          </a:p>
          <a:p>
            <a:pPr>
              <a:buFont typeface="+mj-lt"/>
              <a:buAutoNum type="arabicPeriod"/>
            </a:pPr>
            <a:r>
              <a:rPr lang="en-US" b="1" dirty="0">
                <a:latin typeface="Times New Roman" panose="02020603050405020304" pitchFamily="18" charset="0"/>
                <a:cs typeface="Times New Roman" panose="02020603050405020304" pitchFamily="18" charset="0"/>
              </a:rPr>
              <a:t>Scotland – Rural Mobility Hubs with ATIS</a:t>
            </a:r>
            <a:r>
              <a:rPr lang="en-US" dirty="0">
                <a:latin typeface="Times New Roman" panose="02020603050405020304" pitchFamily="18" charset="0"/>
                <a:cs typeface="Times New Roman" panose="02020603050405020304" pitchFamily="18" charset="0"/>
              </a:rPr>
              <a:t>: </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Overview</a:t>
            </a:r>
            <a:r>
              <a:rPr lang="en-US" dirty="0">
                <a:latin typeface="Times New Roman" panose="02020603050405020304" pitchFamily="18" charset="0"/>
                <a:cs typeface="Times New Roman" panose="02020603050405020304" pitchFamily="18" charset="0"/>
              </a:rPr>
              <a:t>: Pilot projects in rural Scotland combine mobility hubs (shared bikes, DRT) with ATIS apps providing real-time transit and weather info.</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Features</a:t>
            </a:r>
            <a:r>
              <a:rPr lang="en-US" dirty="0">
                <a:latin typeface="Times New Roman" panose="02020603050405020304" pitchFamily="18" charset="0"/>
                <a:cs typeface="Times New Roman" panose="02020603050405020304" pitchFamily="18" charset="0"/>
              </a:rPr>
              <a:t>: App-based booking for DRT and alerts for service disruptions in remote areas.</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Outcome</a:t>
            </a:r>
            <a:r>
              <a:rPr lang="en-US" dirty="0">
                <a:latin typeface="Times New Roman" panose="02020603050405020304" pitchFamily="18" charset="0"/>
                <a:cs typeface="Times New Roman" panose="02020603050405020304" pitchFamily="18" charset="0"/>
              </a:rPr>
              <a:t>: Enhanced access to jobs and services in low-density regions.</a:t>
            </a:r>
          </a:p>
          <a:p>
            <a:pPr marL="742950" lvl="1" indent="-285750">
              <a:buFont typeface="+mj-lt"/>
              <a:buAutoNum type="arabicPeriod"/>
            </a:pPr>
            <a:r>
              <a:rPr lang="en-US" b="1" dirty="0">
                <a:latin typeface="Times New Roman" panose="02020603050405020304" pitchFamily="18" charset="0"/>
                <a:cs typeface="Times New Roman" panose="02020603050405020304" pitchFamily="18" charset="0"/>
              </a:rPr>
              <a:t>Source</a:t>
            </a:r>
            <a:r>
              <a:rPr lang="en-US" dirty="0">
                <a:latin typeface="Times New Roman" panose="02020603050405020304" pitchFamily="18" charset="0"/>
                <a:cs typeface="Times New Roman" panose="02020603050405020304" pitchFamily="18" charset="0"/>
              </a:rPr>
              <a:t>: Transport Scotland, 2023.</a:t>
            </a:r>
          </a:p>
        </p:txBody>
      </p:sp>
      <p:sp>
        <p:nvSpPr>
          <p:cNvPr id="7" name="Rectangle 3">
            <a:extLst>
              <a:ext uri="{FF2B5EF4-FFF2-40B4-BE49-F238E27FC236}">
                <a16:creationId xmlns:a16="http://schemas.microsoft.com/office/drawing/2014/main" id="{359C49B7-96BB-AC4D-CE15-6256AE95303F}"/>
              </a:ext>
            </a:extLst>
          </p:cNvPr>
          <p:cNvSpPr>
            <a:spLocks noChangeArrowheads="1"/>
          </p:cNvSpPr>
          <p:nvPr/>
        </p:nvSpPr>
        <p:spPr bwMode="auto">
          <a:xfrm rot="10800000" flipV="1">
            <a:off x="6595111" y="567731"/>
            <a:ext cx="5268276"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South Africa – </a:t>
            </a:r>
            <a:r>
              <a:rPr kumimoji="0" lang="en-US" altLang="en-US" sz="18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GoMetro</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Rural Transit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GoMetro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mobile platform, offers real-time minibus taxi schedules in rural and peri-urban areas.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Crowd-sourced data tracks informal transit, with SMS alerts for low-tech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Outcome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Improved reliability for commuters in areas lacking formal transit.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GoMetro</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Case Studies, 2022. </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Japan – Rural ATIS for Aging Populations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Overview</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rural Japan, ATIS platforms integrate DRT schedules with healthcare access info for elderly residents.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Simple interfaces and voice-activated apps cater to low-tech users, with alerts for bus arrivals.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Outcome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Increased mobility for seniors, reducing isolation.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Source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Journal of Rural Studies, 2021.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0690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291DCA1-19A4-B2DC-F5A7-E4D1B8FE15F3}"/>
              </a:ext>
            </a:extLst>
          </p:cNvPr>
          <p:cNvSpPr txBox="1"/>
          <p:nvPr/>
        </p:nvSpPr>
        <p:spPr>
          <a:xfrm>
            <a:off x="180023" y="200650"/>
            <a:ext cx="5237797" cy="3970318"/>
          </a:xfrm>
          <a:prstGeom prst="rect">
            <a:avLst/>
          </a:prstGeom>
          <a:noFill/>
        </p:spPr>
        <p:txBody>
          <a:bodyPr wrap="square">
            <a:spAutoFit/>
          </a:bodyPr>
          <a:lstStyle/>
          <a:p>
            <a:r>
              <a:rPr lang="en-US" b="1" dirty="0"/>
              <a:t>Challenges in Rural ATIS Deployment</a:t>
            </a:r>
          </a:p>
          <a:p>
            <a:pPr>
              <a:buFont typeface="Arial" panose="020B0604020202020204" pitchFamily="34" charset="0"/>
              <a:buChar char="•"/>
            </a:pPr>
            <a:r>
              <a:rPr lang="en-US" b="1" dirty="0"/>
              <a:t>Connectivity Gaps</a:t>
            </a:r>
            <a:r>
              <a:rPr lang="en-US" dirty="0"/>
              <a:t>: Limited internet or mobile coverage in remote areas hinders app-based systems (e.g., Sonoma County’s Lyft pilot struggles).</a:t>
            </a:r>
          </a:p>
          <a:p>
            <a:pPr>
              <a:buFont typeface="Arial" panose="020B0604020202020204" pitchFamily="34" charset="0"/>
              <a:buChar char="•"/>
            </a:pPr>
            <a:r>
              <a:rPr lang="en-US" b="1" dirty="0"/>
              <a:t>Low Digital Literacy</a:t>
            </a:r>
            <a:r>
              <a:rPr lang="en-US" dirty="0"/>
              <a:t>: Rural populations, especially elderly users, may struggle with complex apps, requiring simpler interfaces (e.g., Japan’s voice-activated systems).</a:t>
            </a:r>
          </a:p>
          <a:p>
            <a:pPr>
              <a:buFont typeface="Arial" panose="020B0604020202020204" pitchFamily="34" charset="0"/>
              <a:buChar char="•"/>
            </a:pPr>
            <a:r>
              <a:rPr lang="en-US" b="1" dirty="0"/>
              <a:t>Cost</a:t>
            </a:r>
            <a:r>
              <a:rPr lang="en-US" dirty="0"/>
              <a:t>: Developing and maintaining ATIS for low-density areas can be expensive, needing public-private funding (e.g., TRAX’s partnerships).</a:t>
            </a:r>
          </a:p>
          <a:p>
            <a:pPr>
              <a:buFont typeface="Arial" panose="020B0604020202020204" pitchFamily="34" charset="0"/>
              <a:buChar char="•"/>
            </a:pPr>
            <a:r>
              <a:rPr lang="en-US" b="1" dirty="0"/>
              <a:t>Data Availability</a:t>
            </a:r>
            <a:r>
              <a:rPr lang="en-US" dirty="0"/>
              <a:t>: Sparse sensor networks in rural areas limit real-time data collection compared to urban settings.</a:t>
            </a:r>
          </a:p>
        </p:txBody>
      </p:sp>
      <p:sp>
        <p:nvSpPr>
          <p:cNvPr id="7" name="TextBox 6">
            <a:extLst>
              <a:ext uri="{FF2B5EF4-FFF2-40B4-BE49-F238E27FC236}">
                <a16:creationId xmlns:a16="http://schemas.microsoft.com/office/drawing/2014/main" id="{74E8A320-327D-7FEE-430F-EBC983213E44}"/>
              </a:ext>
            </a:extLst>
          </p:cNvPr>
          <p:cNvSpPr txBox="1"/>
          <p:nvPr/>
        </p:nvSpPr>
        <p:spPr>
          <a:xfrm>
            <a:off x="5735003" y="200650"/>
            <a:ext cx="6097904" cy="3970318"/>
          </a:xfrm>
          <a:prstGeom prst="rect">
            <a:avLst/>
          </a:prstGeom>
          <a:noFill/>
        </p:spPr>
        <p:txBody>
          <a:bodyPr wrap="square">
            <a:spAutoFit/>
          </a:bodyPr>
          <a:lstStyle/>
          <a:p>
            <a:r>
              <a:rPr lang="en-US" b="1" dirty="0"/>
              <a:t>Emerging Trends</a:t>
            </a:r>
          </a:p>
          <a:p>
            <a:pPr>
              <a:buFont typeface="Arial" panose="020B0604020202020204" pitchFamily="34" charset="0"/>
              <a:buChar char="•"/>
            </a:pPr>
            <a:r>
              <a:rPr lang="en-US" b="1" dirty="0"/>
              <a:t>IoT and Sensors</a:t>
            </a:r>
            <a:r>
              <a:rPr lang="en-US" dirty="0"/>
              <a:t>: Low-cost sensors on rural roads provide data for potholes, flooding, or traffic (e.g., pilots in India’s PMGSY network).</a:t>
            </a:r>
          </a:p>
          <a:p>
            <a:pPr>
              <a:buFont typeface="Arial" panose="020B0604020202020204" pitchFamily="34" charset="0"/>
              <a:buChar char="•"/>
            </a:pPr>
            <a:r>
              <a:rPr lang="en-US" b="1" dirty="0"/>
              <a:t>AI-Driven Predictions</a:t>
            </a:r>
            <a:r>
              <a:rPr lang="en-US" dirty="0"/>
              <a:t>: Machine learning enhances route optimization and delay forecasts, even with limited data.</a:t>
            </a:r>
          </a:p>
          <a:p>
            <a:pPr>
              <a:buFont typeface="Arial" panose="020B0604020202020204" pitchFamily="34" charset="0"/>
              <a:buChar char="•"/>
            </a:pPr>
            <a:r>
              <a:rPr lang="en-US" b="1" dirty="0"/>
              <a:t>Offline Solutions</a:t>
            </a:r>
            <a:r>
              <a:rPr lang="en-US" dirty="0"/>
              <a:t>: Cached data or SMS-based ATIS ensures functionality in low-connectivity areas (e.g., </a:t>
            </a:r>
            <a:r>
              <a:rPr lang="en-US" dirty="0" err="1"/>
              <a:t>GoMetro’s</a:t>
            </a:r>
            <a:r>
              <a:rPr lang="en-US" dirty="0"/>
              <a:t> SMS alerts).</a:t>
            </a:r>
          </a:p>
          <a:p>
            <a:pPr>
              <a:buFont typeface="Arial" panose="020B0604020202020204" pitchFamily="34" charset="0"/>
              <a:buChar char="•"/>
            </a:pPr>
            <a:r>
              <a:rPr lang="en-US" b="1" dirty="0"/>
              <a:t>Integration with ARTS</a:t>
            </a:r>
            <a:r>
              <a:rPr lang="en-US" dirty="0"/>
              <a:t>: ATIS paired with DRT or mobility hubs creates seamless rural transport ecosystems (e.g., Scotland’s mobility hubs).</a:t>
            </a:r>
          </a:p>
          <a:p>
            <a:pPr>
              <a:buFont typeface="Arial" panose="020B0604020202020204" pitchFamily="34" charset="0"/>
              <a:buChar char="•"/>
            </a:pPr>
            <a:r>
              <a:rPr lang="en-US" b="1" dirty="0"/>
              <a:t>Community-Driven Data</a:t>
            </a:r>
            <a:r>
              <a:rPr lang="en-US" dirty="0"/>
              <a:t>: Crowdsourcing from local users supplements formal data in underserved areas.</a:t>
            </a:r>
          </a:p>
        </p:txBody>
      </p:sp>
      <p:sp>
        <p:nvSpPr>
          <p:cNvPr id="9" name="TextBox 8">
            <a:extLst>
              <a:ext uri="{FF2B5EF4-FFF2-40B4-BE49-F238E27FC236}">
                <a16:creationId xmlns:a16="http://schemas.microsoft.com/office/drawing/2014/main" id="{6D67E32C-E42C-068E-1E88-12E3DF6F27CA}"/>
              </a:ext>
            </a:extLst>
          </p:cNvPr>
          <p:cNvSpPr txBox="1"/>
          <p:nvPr/>
        </p:nvSpPr>
        <p:spPr>
          <a:xfrm>
            <a:off x="180023" y="4408230"/>
            <a:ext cx="11387137" cy="1754326"/>
          </a:xfrm>
          <a:prstGeom prst="rect">
            <a:avLst/>
          </a:prstGeom>
          <a:noFill/>
        </p:spPr>
        <p:txBody>
          <a:bodyPr wrap="square">
            <a:spAutoFit/>
          </a:bodyPr>
          <a:lstStyle/>
          <a:p>
            <a:r>
              <a:rPr lang="en-US" b="1" dirty="0"/>
              <a:t>Recommendations for Rural ATIS</a:t>
            </a:r>
          </a:p>
          <a:p>
            <a:pPr marL="285750" indent="-285750">
              <a:buFont typeface="Arial" panose="020B0604020202020204" pitchFamily="34" charset="0"/>
              <a:buChar char="•"/>
            </a:pPr>
            <a:r>
              <a:rPr lang="en-US" b="1" dirty="0"/>
              <a:t>Simplify Interfaces</a:t>
            </a:r>
            <a:r>
              <a:rPr lang="en-US" dirty="0"/>
              <a:t>: Design apps or SMS systems for low-literacy or elderly users.</a:t>
            </a:r>
          </a:p>
          <a:p>
            <a:pPr marL="285750" indent="-285750">
              <a:buFont typeface="Arial" panose="020B0604020202020204" pitchFamily="34" charset="0"/>
              <a:buChar char="•"/>
            </a:pPr>
            <a:r>
              <a:rPr lang="en-US" b="1" dirty="0"/>
              <a:t>Leverage Low-Tech Channels</a:t>
            </a:r>
            <a:r>
              <a:rPr lang="en-US" dirty="0"/>
              <a:t>: Use radio or SMS where internet access is unreliable.</a:t>
            </a:r>
          </a:p>
          <a:p>
            <a:pPr marL="285750" indent="-285750">
              <a:buFont typeface="Arial" panose="020B0604020202020204" pitchFamily="34" charset="0"/>
              <a:buChar char="•"/>
            </a:pPr>
            <a:r>
              <a:rPr lang="en-US" b="1" dirty="0"/>
              <a:t>Integrate with DRT</a:t>
            </a:r>
            <a:r>
              <a:rPr lang="en-US" dirty="0"/>
              <a:t>: Pair ATIS with flexible transit for real-time booking and alerts.</a:t>
            </a:r>
          </a:p>
          <a:p>
            <a:pPr marL="285750" indent="-285750">
              <a:buFont typeface="Arial" panose="020B0604020202020204" pitchFamily="34" charset="0"/>
              <a:buChar char="•"/>
            </a:pPr>
            <a:r>
              <a:rPr lang="en-US" b="1" dirty="0"/>
              <a:t>Use Scalable Tech</a:t>
            </a:r>
            <a:r>
              <a:rPr lang="en-US" dirty="0"/>
              <a:t>: Deploy low-cost sensors or crowd-sourced data to reduce costs.</a:t>
            </a:r>
          </a:p>
          <a:p>
            <a:pPr marL="285750" indent="-285750">
              <a:buFont typeface="Arial" panose="020B0604020202020204" pitchFamily="34" charset="0"/>
              <a:buChar char="•"/>
            </a:pPr>
            <a:r>
              <a:rPr lang="en-US" b="1" dirty="0"/>
              <a:t>Engage Communities</a:t>
            </a:r>
            <a:r>
              <a:rPr lang="en-US" dirty="0"/>
              <a:t>: Incorporate local feedback to ensure usability and relevance.</a:t>
            </a:r>
          </a:p>
        </p:txBody>
      </p:sp>
    </p:spTree>
    <p:extLst>
      <p:ext uri="{BB962C8B-B14F-4D97-AF65-F5344CB8AC3E}">
        <p14:creationId xmlns:p14="http://schemas.microsoft.com/office/powerpoint/2010/main" val="4143272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936</Words>
  <Application>Microsoft Office PowerPoint</Application>
  <PresentationFormat>Widescreen</PresentationFormat>
  <Paragraphs>52</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Times New Roman</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UG CIVIL</dc:creator>
  <cp:lastModifiedBy>UG CIVIL</cp:lastModifiedBy>
  <cp:revision>2</cp:revision>
  <dcterms:created xsi:type="dcterms:W3CDTF">2025-06-13T07:36:43Z</dcterms:created>
  <dcterms:modified xsi:type="dcterms:W3CDTF">2025-06-13T07:44:16Z</dcterms:modified>
</cp:coreProperties>
</file>