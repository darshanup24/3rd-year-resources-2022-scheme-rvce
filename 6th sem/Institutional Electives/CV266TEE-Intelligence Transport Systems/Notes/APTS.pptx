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A11D9-6AE2-F0E8-BDCA-23765E0A25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D82CD56-81F8-08B6-CC48-458863F81A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BAFEAB-B2F4-3831-3B69-2A5567CF41E6}"/>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5" name="Footer Placeholder 4">
            <a:extLst>
              <a:ext uri="{FF2B5EF4-FFF2-40B4-BE49-F238E27FC236}">
                <a16:creationId xmlns:a16="http://schemas.microsoft.com/office/drawing/2014/main" id="{944B7784-310E-ADAB-917D-7BC1CD0652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569034-0374-73A2-E87F-112D7C2C8FA7}"/>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129163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C0289-E9E9-49E9-9567-9659AA0175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9AABC4-345D-9A39-1098-35BAB1C999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E10B0E-55EA-A618-B4E8-43157965BC33}"/>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5" name="Footer Placeholder 4">
            <a:extLst>
              <a:ext uri="{FF2B5EF4-FFF2-40B4-BE49-F238E27FC236}">
                <a16:creationId xmlns:a16="http://schemas.microsoft.com/office/drawing/2014/main" id="{E41BF696-81DA-8E55-8FD3-6885D32676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6C8D4D-5C38-1635-1B3E-63D1553B46CF}"/>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823280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27182-59F6-C9E8-9186-ECE4772DCE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D35802-95DE-88C8-3387-B64D017683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D06F36-1699-1883-ABFB-763CB7DB1A55}"/>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5" name="Footer Placeholder 4">
            <a:extLst>
              <a:ext uri="{FF2B5EF4-FFF2-40B4-BE49-F238E27FC236}">
                <a16:creationId xmlns:a16="http://schemas.microsoft.com/office/drawing/2014/main" id="{ECE55579-1BB9-074A-9968-4760704978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AACA93-866F-DBCE-9DC0-73071CF86757}"/>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4127168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6F20-ED13-4F92-9B75-F472992373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4682CA-7ACA-9E2F-A2C7-84B47DE7A0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7FBC39-6922-BCB5-9B36-11C12765C9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2E47F0-A474-FFDB-BDF1-35622A56211E}"/>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6" name="Footer Placeholder 5">
            <a:extLst>
              <a:ext uri="{FF2B5EF4-FFF2-40B4-BE49-F238E27FC236}">
                <a16:creationId xmlns:a16="http://schemas.microsoft.com/office/drawing/2014/main" id="{3569F684-5FAA-E784-9618-C9A4E928A9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F1BC33-6213-E804-4BAE-905ABDFB65DC}"/>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1418707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DA6CE-316B-55D9-71CE-BD46621BE9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F480F6-4C5A-D0AC-60E6-B5D7F56954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25861F-764A-D14C-8B2C-8B79FD8729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0B0436-6428-3DC4-947B-17B03F7A7D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FCF87-2799-1A6C-15F2-6315158963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F758F9E-4917-3D37-A594-3004A8FAEC0D}"/>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8" name="Footer Placeholder 7">
            <a:extLst>
              <a:ext uri="{FF2B5EF4-FFF2-40B4-BE49-F238E27FC236}">
                <a16:creationId xmlns:a16="http://schemas.microsoft.com/office/drawing/2014/main" id="{A0B28B73-616C-1828-7AB1-DEA1175D1B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727C03-377C-2379-1180-FCF1D4BE1AB2}"/>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294298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4F5FD-6089-43B9-5296-54E208B15C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2B2713-C0BB-F6AD-25A2-AAE1B2A8EFA7}"/>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4" name="Footer Placeholder 3">
            <a:extLst>
              <a:ext uri="{FF2B5EF4-FFF2-40B4-BE49-F238E27FC236}">
                <a16:creationId xmlns:a16="http://schemas.microsoft.com/office/drawing/2014/main" id="{F7F4C455-FE0D-A671-9A64-09164E09BA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17C22D-A4C4-7704-EF85-0AE4D54281D8}"/>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1085700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E25D77-AE30-6CFA-1BCC-CB0467405DFE}"/>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3" name="Footer Placeholder 2">
            <a:extLst>
              <a:ext uri="{FF2B5EF4-FFF2-40B4-BE49-F238E27FC236}">
                <a16:creationId xmlns:a16="http://schemas.microsoft.com/office/drawing/2014/main" id="{C2A8DD74-A599-8814-C16B-B5763C3117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9B3D390-EF9E-6785-3858-B8C2A0FC7622}"/>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2961656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29124-29D4-1D33-3651-E5A8834E3C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7D3378-D025-F2D3-7F24-BE88CCED5C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12C9B96-C992-19B5-1CE6-838D3874A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DC7BA3-A6D5-8B59-FA30-43DEC1BCD2BB}"/>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6" name="Footer Placeholder 5">
            <a:extLst>
              <a:ext uri="{FF2B5EF4-FFF2-40B4-BE49-F238E27FC236}">
                <a16:creationId xmlns:a16="http://schemas.microsoft.com/office/drawing/2014/main" id="{796A436F-A6D2-5A8B-E888-AAF1A80AF4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D0DC1F-8CE2-34D7-7507-911FDBE02FD1}"/>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287193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28989-59D2-FFAF-0DCD-F051E1E348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FDE0BE6-1944-6B27-D3C4-7CFF42213B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0CD317-6ADB-E59A-2D22-498B6D8546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8F7839-8292-F2C9-F995-18E6A9BE7ACB}"/>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6" name="Footer Placeholder 5">
            <a:extLst>
              <a:ext uri="{FF2B5EF4-FFF2-40B4-BE49-F238E27FC236}">
                <a16:creationId xmlns:a16="http://schemas.microsoft.com/office/drawing/2014/main" id="{28BA8DA2-4994-45DC-7493-341072557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33B73A-ACA1-7210-8152-1218EC13842F}"/>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479096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9688-0D6B-3817-5164-C3840A8604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2447DE-4110-BFD5-18DA-8AC304C83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FDA2BC-A02C-2D39-4D83-C581CE0B17D4}"/>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5" name="Footer Placeholder 4">
            <a:extLst>
              <a:ext uri="{FF2B5EF4-FFF2-40B4-BE49-F238E27FC236}">
                <a16:creationId xmlns:a16="http://schemas.microsoft.com/office/drawing/2014/main" id="{C78F3175-846C-8111-357C-BD2D8CFF12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CE863B-C599-B508-125F-8399F79C47FB}"/>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2665511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EBF21E-B055-27C8-E2CF-E6B513980F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4E231A-A02B-8D14-EE3A-07B82F6443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E72203-192F-1EAF-40BB-449803057375}"/>
              </a:ext>
            </a:extLst>
          </p:cNvPr>
          <p:cNvSpPr>
            <a:spLocks noGrp="1"/>
          </p:cNvSpPr>
          <p:nvPr>
            <p:ph type="dt" sz="half" idx="10"/>
          </p:nvPr>
        </p:nvSpPr>
        <p:spPr/>
        <p:txBody>
          <a:bodyPr/>
          <a:lstStyle/>
          <a:p>
            <a:fld id="{AE92BBEF-FBB4-46EE-B241-2279B1028EE6}" type="datetimeFigureOut">
              <a:rPr lang="en-IN" smtClean="0"/>
              <a:t>13-06-2025</a:t>
            </a:fld>
            <a:endParaRPr lang="en-IN"/>
          </a:p>
        </p:txBody>
      </p:sp>
      <p:sp>
        <p:nvSpPr>
          <p:cNvPr id="5" name="Footer Placeholder 4">
            <a:extLst>
              <a:ext uri="{FF2B5EF4-FFF2-40B4-BE49-F238E27FC236}">
                <a16:creationId xmlns:a16="http://schemas.microsoft.com/office/drawing/2014/main" id="{1B1F1A47-9F0C-891C-CD1E-0282A013C1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55AF3E-5C17-D776-186A-D97715335797}"/>
              </a:ext>
            </a:extLst>
          </p:cNvPr>
          <p:cNvSpPr>
            <a:spLocks noGrp="1"/>
          </p:cNvSpPr>
          <p:nvPr>
            <p:ph type="sldNum" sz="quarter" idx="12"/>
          </p:nvPr>
        </p:nvSpPr>
        <p:spPr/>
        <p:txBody>
          <a:bodyPr/>
          <a:lstStyle/>
          <a:p>
            <a:fld id="{2902BDCD-A479-4945-9337-A032E12C8617}" type="slidenum">
              <a:rPr lang="en-IN" smtClean="0"/>
              <a:t>‹#›</a:t>
            </a:fld>
            <a:endParaRPr lang="en-IN"/>
          </a:p>
        </p:txBody>
      </p:sp>
    </p:spTree>
    <p:extLst>
      <p:ext uri="{BB962C8B-B14F-4D97-AF65-F5344CB8AC3E}">
        <p14:creationId xmlns:p14="http://schemas.microsoft.com/office/powerpoint/2010/main" val="1310914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857C6C-7AA3-047F-53F4-9B6D3EAA56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B3D1E3-F17D-FD30-77AC-1427D33153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C0A15E-C8AA-B12C-BF4B-655A0A060C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92BBEF-FBB4-46EE-B241-2279B1028EE6}" type="datetimeFigureOut">
              <a:rPr lang="en-IN" smtClean="0"/>
              <a:t>13-06-2025</a:t>
            </a:fld>
            <a:endParaRPr lang="en-IN"/>
          </a:p>
        </p:txBody>
      </p:sp>
      <p:sp>
        <p:nvSpPr>
          <p:cNvPr id="5" name="Footer Placeholder 4">
            <a:extLst>
              <a:ext uri="{FF2B5EF4-FFF2-40B4-BE49-F238E27FC236}">
                <a16:creationId xmlns:a16="http://schemas.microsoft.com/office/drawing/2014/main" id="{17A4051B-783D-F1D5-E5AF-7E2289EEED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4DEF785-7578-385D-5DA2-5CD0EEE749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2BDCD-A479-4945-9337-A032E12C8617}" type="slidenum">
              <a:rPr lang="en-IN" smtClean="0"/>
              <a:t>‹#›</a:t>
            </a:fld>
            <a:endParaRPr lang="en-IN"/>
          </a:p>
        </p:txBody>
      </p:sp>
    </p:spTree>
    <p:extLst>
      <p:ext uri="{BB962C8B-B14F-4D97-AF65-F5344CB8AC3E}">
        <p14:creationId xmlns:p14="http://schemas.microsoft.com/office/powerpoint/2010/main" val="1371814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n.wikipedia.org/wiki/Passenger_information_syste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apta.com/news-publications/public-transportation-fact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45EBF8-94F4-3F94-96C8-7250BBA78706}"/>
              </a:ext>
            </a:extLst>
          </p:cNvPr>
          <p:cNvSpPr txBox="1"/>
          <p:nvPr/>
        </p:nvSpPr>
        <p:spPr>
          <a:xfrm>
            <a:off x="354330" y="868680"/>
            <a:ext cx="11658600" cy="3442609"/>
          </a:xfrm>
          <a:prstGeom prst="rect">
            <a:avLst/>
          </a:prstGeom>
          <a:noFill/>
        </p:spPr>
        <p:txBody>
          <a:bodyPr wrap="square">
            <a:spAutoFit/>
          </a:bodyPr>
          <a:lstStyle/>
          <a:p>
            <a:pPr>
              <a:lnSpc>
                <a:spcPct val="250000"/>
              </a:lnSpc>
            </a:pPr>
            <a:r>
              <a:rPr lang="en-US" dirty="0">
                <a:effectLst/>
              </a:rPr>
              <a:t>Advanced Public Transportation Systems (APTS) integrate cutting-edge technologies like navigation, communication, and information systems to enhance the efficiency, safety, and user experience of public transit. These systems aim to improve service reliability, reduce operational costs, and provide real-time information to passengers, making public transportation more appealing and competitive with private vehicles. Below, I’ll provide a detailed overview of APTS, its key components, examples of implementations, and relevant numerical data to illustrate its impact.</a:t>
            </a:r>
          </a:p>
        </p:txBody>
      </p:sp>
    </p:spTree>
    <p:extLst>
      <p:ext uri="{BB962C8B-B14F-4D97-AF65-F5344CB8AC3E}">
        <p14:creationId xmlns:p14="http://schemas.microsoft.com/office/powerpoint/2010/main" val="2549674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8A5FB8-0726-29F5-D6A9-F6E1E6FEB8E9}"/>
              </a:ext>
            </a:extLst>
          </p:cNvPr>
          <p:cNvSpPr txBox="1"/>
          <p:nvPr/>
        </p:nvSpPr>
        <p:spPr>
          <a:xfrm>
            <a:off x="480060" y="377190"/>
            <a:ext cx="11487150" cy="6129050"/>
          </a:xfrm>
          <a:prstGeom prst="rect">
            <a:avLst/>
          </a:prstGeom>
          <a:noFill/>
        </p:spPr>
        <p:txBody>
          <a:bodyPr wrap="square">
            <a:spAutoFit/>
          </a:bodyPr>
          <a:lstStyle/>
          <a:p>
            <a:pPr algn="just">
              <a:lnSpc>
                <a:spcPct val="150000"/>
              </a:lnSpc>
            </a:pPr>
            <a:r>
              <a:rPr lang="en-US" sz="2400" dirty="0">
                <a:effectLst/>
                <a:latin typeface="Times New Roman" panose="02020603050405020304" pitchFamily="18" charset="0"/>
                <a:cs typeface="Times New Roman" panose="02020603050405020304" pitchFamily="18" charset="0"/>
              </a:rPr>
              <a:t>APTS is a subset of Intelligent Transportation Systems (ITS) that focuses on applying advanced technologies to public transit operations. It includes tools like real-time passenger information systems, automatic vehicle location (AVL), electronic fare collection, and traffic signal priority systems. The primary goals are to:</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Enhance transit efficiency and reliability.</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 passenger convenience and safety.</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 environmental impact and operational costs.</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Increase ridership by making public transit more attractive.</a:t>
            </a:r>
          </a:p>
          <a:p>
            <a:pPr algn="just">
              <a:lnSpc>
                <a:spcPct val="150000"/>
              </a:lnSpc>
            </a:pPr>
            <a:r>
              <a:rPr lang="en-US" sz="2400" dirty="0">
                <a:effectLst/>
                <a:latin typeface="Times New Roman" panose="02020603050405020304" pitchFamily="18" charset="0"/>
                <a:cs typeface="Times New Roman" panose="02020603050405020304" pitchFamily="18" charset="0"/>
              </a:rPr>
              <a:t>APTS technologies are particularly valuable in urban areas where congestion and population density demand efficient transportation solutions. They also support rural transit by optimizing limited resources.</a:t>
            </a:r>
          </a:p>
        </p:txBody>
      </p:sp>
    </p:spTree>
    <p:extLst>
      <p:ext uri="{BB962C8B-B14F-4D97-AF65-F5344CB8AC3E}">
        <p14:creationId xmlns:p14="http://schemas.microsoft.com/office/powerpoint/2010/main" val="42373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1708840B-EA1B-4311-158E-DB4FB6283C37}"/>
              </a:ext>
            </a:extLst>
          </p:cNvPr>
          <p:cNvSpPr>
            <a:spLocks noChangeArrowheads="1"/>
          </p:cNvSpPr>
          <p:nvPr/>
        </p:nvSpPr>
        <p:spPr bwMode="auto">
          <a:xfrm>
            <a:off x="238125" y="920621"/>
            <a:ext cx="1171575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Components of APTS</a:t>
            </a:r>
          </a:p>
          <a:p>
            <a:pPr marL="0" marR="0" lvl="0" indent="0" algn="l" defTabSz="914400" rtl="0" eaLnBrk="0" fontAlgn="base" latinLnBrk="0" hangingPunct="0">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APTS encompasses several technologies and applications, each addressing specific aspects of public transportation. Here are the main components:</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Passenger Information Systems (PIS)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up-to-date information on vehicle arrival/departure times, delays, and service disruptions.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Delivered via mobile apps, platform displays, or automated announcements.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The Washington Metro’s Passenger Information Display System (PIDS), implemented in 2000, shows real-time train arrivals and emergency alerts across all stations.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endParaRPr>
          </a:p>
          <a:p>
            <a:pPr marL="0" marR="0" lvl="0" indent="0" algn="l" defTabSz="914400" rtl="0" eaLnBrk="0" fontAlgn="base" latinLnBrk="0" hangingPunct="0">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Vehicle Location (AVL)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GPS or other tracking technologies to monitor the real-time location of transit vehicles.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fleet management and informs passengers of accurate arrival times.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Paris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Métro’s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LED displays (since 1997) show train arrival times based on AVL data, improving passenger planning.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endParaRPr>
          </a:p>
          <a:p>
            <a:pPr marL="0" marR="0" lvl="0" indent="0" algn="l" defTabSz="914400" rtl="0" eaLnBrk="0" fontAlgn="base" latinLnBrk="0" hangingPunct="0">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Electronic Fare Collection (EFC)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Replaces cash or paper tickets with smart cards, mobile payments, or contactless systems.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Speeds up boarding and reduces fare evasion. </a:t>
            </a:r>
          </a:p>
          <a:p>
            <a:pPr marL="457200" marR="0" lvl="1" indent="0" algn="l" defTabSz="914400" rtl="0" eaLnBrk="0" fontAlgn="base" latinLnBrk="0" hangingPunct="0">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London’s Oyster card system allows seamless fare payments across buses, trains, and trams, reducing boarding times by up to 30%. </a:t>
            </a:r>
          </a:p>
        </p:txBody>
      </p:sp>
    </p:spTree>
    <p:extLst>
      <p:ext uri="{BB962C8B-B14F-4D97-AF65-F5344CB8AC3E}">
        <p14:creationId xmlns:p14="http://schemas.microsoft.com/office/powerpoint/2010/main" val="4290651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F8240A-5B10-936D-B963-BDFC61301BA0}"/>
              </a:ext>
            </a:extLst>
          </p:cNvPr>
          <p:cNvSpPr txBox="1"/>
          <p:nvPr/>
        </p:nvSpPr>
        <p:spPr>
          <a:xfrm>
            <a:off x="129540" y="84494"/>
            <a:ext cx="11544299" cy="668901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Traffic Signal Priority (TSP)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Adjusts traffic signals to prioritize transit vehicles, reducing delays at intersections.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Los Angeles Metro’s Bus Rapid Transit (BRT) system uses TSP to cut travel times by 15-20% on busy corridors. </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Fleet Management Systems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 control of vehicle operations, maintenance schedules, and driver performance.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Dubai’s Roads and Transport Authority (RTA) uses GPS-enabled dispatch centers to coordinate bus and metro operations, improving schedule adherence by 25%.</a:t>
            </a:r>
          </a:p>
          <a:p>
            <a:pPr marL="0" marR="0" lvl="0" indent="0" algn="l" defTabSz="914400" rtl="0" eaLnBrk="0" fontAlgn="base" latinLnBrk="0" hangingPunct="0">
              <a:lnSpc>
                <a:spcPct val="150000"/>
              </a:lnSpc>
              <a:spcBef>
                <a:spcPct val="0"/>
              </a:spcBef>
              <a:spcAft>
                <a:spcPct val="0"/>
              </a:spcAft>
              <a:buClrTx/>
              <a:buSzTx/>
              <a:buFontTx/>
              <a:buAutoNum type="arabicPeriod" startAt="6"/>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 Crowdedness Detection and Prediction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sensors or crowdsourced data to monitor passenger loads and predict crowding.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Beijing’s APTS application provides real-time bus crowdedness data, helping passengers choose less crowded vehicles and improving comfort.</a:t>
            </a:r>
          </a:p>
          <a:p>
            <a:pPr marL="0" marR="0" lvl="0" indent="0" algn="l" defTabSz="914400" rtl="0" eaLnBrk="0" fontAlgn="base" latinLnBrk="0" hangingPunct="0">
              <a:lnSpc>
                <a:spcPct val="150000"/>
              </a:lnSpc>
              <a:spcBef>
                <a:spcPct val="0"/>
              </a:spcBef>
              <a:spcAft>
                <a:spcPct val="0"/>
              </a:spcAft>
              <a:buClrTx/>
              <a:buSzTx/>
              <a:buFontTx/>
              <a:buAutoNum type="arabicPeriod" startAt="7"/>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Toll Collection and Security Systems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safety through CCTV, incident detection, and fare enforcement.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Santiago’s Metro system uses automated fare collection and security cameras to ensure safety and streamline payments</a:t>
            </a:r>
          </a:p>
        </p:txBody>
      </p:sp>
    </p:spTree>
    <p:extLst>
      <p:ext uri="{BB962C8B-B14F-4D97-AF65-F5344CB8AC3E}">
        <p14:creationId xmlns:p14="http://schemas.microsoft.com/office/powerpoint/2010/main" val="3653604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62D7615-A0A5-4E69-F712-17268C60DF14}"/>
              </a:ext>
            </a:extLst>
          </p:cNvPr>
          <p:cNvSpPr>
            <a:spLocks noChangeArrowheads="1"/>
          </p:cNvSpPr>
          <p:nvPr/>
        </p:nvSpPr>
        <p:spPr bwMode="auto">
          <a:xfrm>
            <a:off x="87923" y="671691"/>
            <a:ext cx="12016154" cy="5770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Examples of APTS Implementations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Here are real-world examples of APTS deployments, showcasing their practical applications:</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Santiago, Chile – Metro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passenger information, air-conditioned trains, and over 100 stations.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handles millions of daily commuters, reducing road congestion by 10-15% in central areas. Its navigation-friendly design (color-coded stations) makes it accessible for tourists and locals alike.</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Numerical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metro spans 195 km and serves over 2.5 million passengers daily, cutting travel times by 20% compared to road travel. </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Dubai, UAE – Integrated Public Transport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1"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Combines metro, trams, buses, and water taxis with GPS-enabled dispatch centers and real-time </a:t>
            </a:r>
            <a:r>
              <a:rPr lang="en-US" altLang="en-US" dirty="0">
                <a:latin typeface="Times New Roman" panose="02020603050405020304" pitchFamily="18" charset="0"/>
                <a:cs typeface="Times New Roman" panose="02020603050405020304" pitchFamily="18" charset="0"/>
              </a:rPr>
              <a:t>apps. </a:t>
            </a:r>
          </a:p>
          <a:p>
            <a:pPr lvl="1"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Impact: </a:t>
            </a:r>
            <a:r>
              <a:rPr lang="en-US" altLang="en-US" dirty="0">
                <a:latin typeface="Times New Roman" panose="02020603050405020304" pitchFamily="18" charset="0"/>
                <a:cs typeface="Times New Roman" panose="02020603050405020304" pitchFamily="18" charset="0"/>
              </a:rPr>
              <a:t>The Dubai Metro, opened in 2009, reduces CO₂ emissions by approximately 50% compared to car travel and serves over 200 million passengers annually. </a:t>
            </a:r>
          </a:p>
          <a:p>
            <a:pPr lvl="1"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Numerical: </a:t>
            </a:r>
            <a:r>
              <a:rPr lang="en-US" altLang="en-US" dirty="0">
                <a:latin typeface="Times New Roman" panose="02020603050405020304" pitchFamily="18" charset="0"/>
                <a:cs typeface="Times New Roman" panose="02020603050405020304" pitchFamily="18" charset="0"/>
              </a:rPr>
              <a:t>The system’s monorail and buses connect 85 stations, with an average on-time performance rate of 98%.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6427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4DD1AE-6CF6-805F-5DB1-AE76B8E0FCF4}"/>
              </a:ext>
            </a:extLst>
          </p:cNvPr>
          <p:cNvSpPr txBox="1"/>
          <p:nvPr/>
        </p:nvSpPr>
        <p:spPr>
          <a:xfrm>
            <a:off x="400050" y="362724"/>
            <a:ext cx="10389870" cy="544405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Beijing, China – Bus Arrival Prediction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bus trajectory data and crowdsourced commuter inputs to predict arrival times and crowdedness.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passenger wait times by 10-15% and improves service reliability in a city with heavy traffic congestion.</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Numerical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Beijing’s bus system serves 3.5 billion trips annually, with APTS reducing average wait times from 12 to 8 minutes. </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Portland, Oregon – Equity-Focused Transit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Integrates light rail, buses, and trams with real-time information and policies encouraging affordable housing near transit hubs.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Enhances accessibility for low-income communities, increasing ridership by 12% since 2015.</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Numerical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Portland’s transit system carries 100 million passengers yearly, with 30% of trips linked to equity-focused routes.</a:t>
            </a:r>
          </a:p>
        </p:txBody>
      </p:sp>
    </p:spTree>
    <p:extLst>
      <p:ext uri="{BB962C8B-B14F-4D97-AF65-F5344CB8AC3E}">
        <p14:creationId xmlns:p14="http://schemas.microsoft.com/office/powerpoint/2010/main" val="2708418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3F24EEA-DE4A-0BE6-329B-469E6AB90742}"/>
              </a:ext>
            </a:extLst>
          </p:cNvPr>
          <p:cNvSpPr>
            <a:spLocks noChangeArrowheads="1"/>
          </p:cNvSpPr>
          <p:nvPr/>
        </p:nvSpPr>
        <p:spPr bwMode="auto">
          <a:xfrm>
            <a:off x="308610" y="56541"/>
            <a:ext cx="10550769" cy="6390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Numerical Benefits of APTS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APTS delivers measurable economic, environmental, and social benefits. Here are key statistics from various sources: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Economic Impact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Every $1 invested in public transportation generates $5 in economic returns.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$1 billion investment in public transit creates/supports 50,000 jobs.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Every $10 million in capital investment yields $30 million in business sales, and $10 million in operating investment yields $32 million.</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Home values near transit hubs are up to 24% higher than in areas without transit access.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Impact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transportation saves 6 billion gallons of gasoline annually in the U.S.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Communities with robust transit systems reduce carbon emissions by 63 million metric tons per year.</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Subways globally reduce </a:t>
            </a:r>
            <a:r>
              <a:rPr lang="en-US" altLang="en-US" dirty="0">
                <a:latin typeface="Times New Roman" panose="02020603050405020304" pitchFamily="18" charset="0"/>
                <a:cs typeface="Times New Roman" panose="02020603050405020304" pitchFamily="18" charset="0"/>
              </a:rPr>
              <a:t>CO₂ emissions by 50% in cities where they operate, with potential for an 11% global reduction if expanded to 1,214 additional cities.  </a:t>
            </a:r>
          </a:p>
        </p:txBody>
      </p:sp>
    </p:spTree>
    <p:extLst>
      <p:ext uri="{BB962C8B-B14F-4D97-AF65-F5344CB8AC3E}">
        <p14:creationId xmlns:p14="http://schemas.microsoft.com/office/powerpoint/2010/main" val="3161873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F6AE0D-83BA-D9B4-E4CF-3B08E763317C}"/>
              </a:ext>
            </a:extLst>
          </p:cNvPr>
          <p:cNvSpPr txBox="1"/>
          <p:nvPr/>
        </p:nvSpPr>
        <p:spPr>
          <a:xfrm>
            <a:off x="160020" y="589761"/>
            <a:ext cx="11761470" cy="5609484"/>
          </a:xfrm>
          <a:prstGeom prst="rect">
            <a:avLst/>
          </a:prstGeom>
          <a:noFill/>
        </p:spPr>
        <p:txBody>
          <a:bodyPr wrap="square">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 and Accessibility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transit is 10 times safer per mile than automobile travel, reducing accident risk by over 90%.</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87% of public transit trips directly impact the local economy, with 71% of riders being employed and 7% students.</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APTS technologies like low-floor buses and kneeling buses improve accessibility for disabled passengers, increasing their usage by 15% in cities like Seattle.</a:t>
            </a:r>
          </a:p>
          <a:p>
            <a:pPr marL="457200" marR="0" lvl="1" indent="0" algn="l" defTabSz="914400" rtl="0" eaLnBrk="0" fontAlgn="base" latinLnBrk="0" hangingPunct="0">
              <a:lnSpc>
                <a:spcPct val="2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Operational Efficiency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Traffic signal priority systems reduce bus travel times by 15-20% on busy routes. </a:t>
            </a:r>
          </a:p>
          <a:p>
            <a:pPr marL="457200" marR="0" lvl="1"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information systems reduce passenger wait times by 10-25% (e.g., Beijing’s bus system).</a:t>
            </a:r>
          </a:p>
          <a:p>
            <a:pPr marL="457200" marR="0" lvl="1"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Electronic fare collection reduces boarding times by up to 30%, as seen in London’s Oyster system.</a:t>
            </a:r>
          </a:p>
        </p:txBody>
      </p:sp>
    </p:spTree>
    <p:extLst>
      <p:ext uri="{BB962C8B-B14F-4D97-AF65-F5344CB8AC3E}">
        <p14:creationId xmlns:p14="http://schemas.microsoft.com/office/powerpoint/2010/main" val="145869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4ECCBB3-5928-6E8C-389D-33A546D45CC4}"/>
              </a:ext>
            </a:extLst>
          </p:cNvPr>
          <p:cNvSpPr>
            <a:spLocks noChangeArrowheads="1"/>
          </p:cNvSpPr>
          <p:nvPr/>
        </p:nvSpPr>
        <p:spPr bwMode="auto">
          <a:xfrm>
            <a:off x="305435" y="207480"/>
            <a:ext cx="11581130" cy="5917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and Considerations</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While APTS offers significant benefits, there are challenges to consider:</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of Implementation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Deploying APTS technologies requires significant upfront investment. For example, installing AVL and PIS across a city’s bus fleet can cost $10-20 million. </a:t>
            </a:r>
          </a:p>
          <a:p>
            <a:pPr algn="just" eaLnBrk="0" fontAlgn="base" hangingPunct="0">
              <a:lnSpc>
                <a:spcPct val="20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Infrastructure Limitations: </a:t>
            </a:r>
            <a:r>
              <a:rPr lang="en-US" altLang="en-US" dirty="0">
                <a:latin typeface="Times New Roman" panose="02020603050405020304" pitchFamily="18" charset="0"/>
                <a:cs typeface="Times New Roman" panose="02020603050405020304" pitchFamily="18" charset="0"/>
              </a:rPr>
              <a:t>Developing countries may lack the necessary ITS infrastructure, requiring scalable software solutions like those proposed in Beijing.</a:t>
            </a:r>
          </a:p>
          <a:p>
            <a:pPr algn="just" eaLnBrk="0" fontAlgn="base" hangingPunct="0">
              <a:lnSpc>
                <a:spcPct val="20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Equity Concerns: </a:t>
            </a:r>
            <a:r>
              <a:rPr lang="en-US" altLang="en-US" dirty="0">
                <a:latin typeface="Times New Roman" panose="02020603050405020304" pitchFamily="18" charset="0"/>
                <a:cs typeface="Times New Roman" panose="02020603050405020304" pitchFamily="18" charset="0"/>
              </a:rPr>
              <a:t>New transit systems can lead to gentrification, increasing property values and potentially displacing low-income residents. Portland’s equity-focused approach mitigates this by tying transit to affordable housing policies.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Privacy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systems relying on crowdsourced data raise privacy concerns, necessitating robust data protection measures. </a:t>
            </a:r>
          </a:p>
        </p:txBody>
      </p:sp>
    </p:spTree>
    <p:extLst>
      <p:ext uri="{BB962C8B-B14F-4D97-AF65-F5344CB8AC3E}">
        <p14:creationId xmlns:p14="http://schemas.microsoft.com/office/powerpoint/2010/main" val="4002600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3BFADEC-3598-6A26-A676-870DECBB35C6}"/>
              </a:ext>
            </a:extLst>
          </p:cNvPr>
          <p:cNvSpPr>
            <a:spLocks noChangeArrowheads="1"/>
          </p:cNvSpPr>
          <p:nvPr/>
        </p:nvSpPr>
        <p:spPr bwMode="auto">
          <a:xfrm>
            <a:off x="274320" y="454596"/>
            <a:ext cx="11430000" cy="5240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of APTS</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future of APTS lies in integrating emerging technologies like:</a:t>
            </a:r>
            <a:endParaRPr kumimoji="0" lang="en-US" altLang="en-US" sz="4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2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Intelligence (AI)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predictive maintenance and </a:t>
            </a:r>
            <a:r>
              <a:rPr lang="en-US" altLang="en-US" dirty="0">
                <a:latin typeface="Times New Roman" panose="02020603050405020304" pitchFamily="18" charset="0"/>
                <a:cs typeface="Times New Roman" panose="02020603050405020304" pitchFamily="18" charset="0"/>
              </a:rPr>
              <a:t>demand forecasting. </a:t>
            </a:r>
          </a:p>
          <a:p>
            <a:pPr eaLnBrk="0" fontAlgn="base" hangingPunct="0">
              <a:lnSpc>
                <a:spcPct val="20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Connected Vehicles (CV): </a:t>
            </a:r>
            <a:r>
              <a:rPr lang="en-US" altLang="en-US" dirty="0">
                <a:latin typeface="Times New Roman" panose="02020603050405020304" pitchFamily="18" charset="0"/>
                <a:cs typeface="Times New Roman" panose="02020603050405020304" pitchFamily="18" charset="0"/>
              </a:rPr>
              <a:t>Using Basic Safety Messages (BSMs) to improve traffic flow and safety.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Autonomous Transit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Pilot programs for driverless buses and trains are being tested in cities like Singapore and Shanghai.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Mobility-as-a-Service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MaaS</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Combining APTS with ride-sharing and bike-sharing for seamless multimodal travel. </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2023 study suggests that expanding subway systems to 1,214 urban areas could cut global CO₂ emissions by up to 77%, though economic viability depends on factors like construction costs and carbon pricing.</a:t>
            </a:r>
          </a:p>
        </p:txBody>
      </p:sp>
    </p:spTree>
    <p:extLst>
      <p:ext uri="{BB962C8B-B14F-4D97-AF65-F5344CB8AC3E}">
        <p14:creationId xmlns:p14="http://schemas.microsoft.com/office/powerpoint/2010/main" val="3176554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1400</Words>
  <Application>Microsoft Office PowerPoint</Application>
  <PresentationFormat>Widescreen</PresentationFormat>
  <Paragraphs>85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UG CIVIL</dc:creator>
  <cp:lastModifiedBy>UG CIVIL</cp:lastModifiedBy>
  <cp:revision>3</cp:revision>
  <dcterms:created xsi:type="dcterms:W3CDTF">2025-06-13T06:37:50Z</dcterms:created>
  <dcterms:modified xsi:type="dcterms:W3CDTF">2025-06-13T07:13:03Z</dcterms:modified>
</cp:coreProperties>
</file>